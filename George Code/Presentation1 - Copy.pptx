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4" r:id="rId6"/>
    <p:sldId id="260" r:id="rId7"/>
    <p:sldId id="263" r:id="rId8"/>
    <p:sldId id="261" r:id="rId9"/>
    <p:sldId id="266" r:id="rId10"/>
    <p:sldId id="265" r:id="rId11"/>
    <p:sldId id="262" r:id="rId12"/>
    <p:sldId id="267" r:id="rId13"/>
    <p:sldId id="277" r:id="rId14"/>
    <p:sldId id="268" r:id="rId15"/>
    <p:sldId id="270" r:id="rId16"/>
    <p:sldId id="269" r:id="rId17"/>
    <p:sldId id="278" r:id="rId18"/>
    <p:sldId id="273" r:id="rId19"/>
    <p:sldId id="272" r:id="rId20"/>
    <p:sldId id="274" r:id="rId21"/>
    <p:sldId id="275" r:id="rId22"/>
    <p:sldId id="279" r:id="rId23"/>
    <p:sldId id="276"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vertBarState="maximized">
    <p:restoredLeft sz="14890" autoAdjust="0"/>
    <p:restoredTop sz="94660"/>
  </p:normalViewPr>
  <p:slideViewPr>
    <p:cSldViewPr>
      <p:cViewPr varScale="1">
        <p:scale>
          <a:sx n="83" d="100"/>
          <a:sy n="83" d="100"/>
        </p:scale>
        <p:origin x="-1282" y="-7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F7342142-3729-412C-B255-C15DDAAE19EC}" type="datetimeFigureOut">
              <a:rPr lang="en-US" smtClean="0"/>
              <a:pPr/>
              <a:t>10/20/2022</a:t>
            </a:fld>
            <a:endParaRPr lang="en-GB"/>
          </a:p>
        </p:txBody>
      </p:sp>
      <p:sp>
        <p:nvSpPr>
          <p:cNvPr id="17" name="Footer Placeholder 16"/>
          <p:cNvSpPr>
            <a:spLocks noGrp="1"/>
          </p:cNvSpPr>
          <p:nvPr>
            <p:ph type="ftr" sz="quarter" idx="11"/>
          </p:nvPr>
        </p:nvSpPr>
        <p:spPr>
          <a:xfrm>
            <a:off x="5410200" y="4205288"/>
            <a:ext cx="1295400" cy="457200"/>
          </a:xfrm>
        </p:spPr>
        <p:txBody>
          <a:bodyPr/>
          <a:lstStyle/>
          <a:p>
            <a:endParaRPr lang="en-GB"/>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EC7480B2-3198-4FE7-B1BC-F9E993B7981E}"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7342142-3729-412C-B255-C15DDAAE19EC}" type="datetimeFigureOut">
              <a:rPr lang="en-US" smtClean="0"/>
              <a:pPr/>
              <a:t>10/20/2022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C7480B2-3198-4FE7-B1BC-F9E993B7981E}"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F7342142-3729-412C-B255-C15DDAAE19EC}" type="datetimeFigureOut">
              <a:rPr lang="en-US" smtClean="0"/>
              <a:pPr/>
              <a:t>10/20/2022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C7480B2-3198-4FE7-B1BC-F9E993B7981E}"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7342142-3729-412C-B255-C15DDAAE19EC}" type="datetimeFigureOut">
              <a:rPr lang="en-US" smtClean="0"/>
              <a:pPr/>
              <a:t>10/20/2022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C7480B2-3198-4FE7-B1BC-F9E993B7981E}"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F7342142-3729-412C-B255-C15DDAAE19EC}" type="datetimeFigureOut">
              <a:rPr lang="en-US" smtClean="0"/>
              <a:pPr/>
              <a:t>10/20/2022</a:t>
            </a:fld>
            <a:endParaRPr lang="en-GB"/>
          </a:p>
        </p:txBody>
      </p:sp>
      <p:sp>
        <p:nvSpPr>
          <p:cNvPr id="27" name="Slide Number Placeholder 26"/>
          <p:cNvSpPr>
            <a:spLocks noGrp="1"/>
          </p:cNvSpPr>
          <p:nvPr>
            <p:ph type="sldNum" sz="quarter" idx="11"/>
          </p:nvPr>
        </p:nvSpPr>
        <p:spPr/>
        <p:txBody>
          <a:bodyPr rtlCol="0"/>
          <a:lstStyle/>
          <a:p>
            <a:fld id="{EC7480B2-3198-4FE7-B1BC-F9E993B7981E}" type="slidenum">
              <a:rPr lang="en-GB" smtClean="0"/>
              <a:pPr/>
              <a:t>‹#›</a:t>
            </a:fld>
            <a:endParaRPr lang="en-GB"/>
          </a:p>
        </p:txBody>
      </p:sp>
      <p:sp>
        <p:nvSpPr>
          <p:cNvPr id="28" name="Footer Placeholder 27"/>
          <p:cNvSpPr>
            <a:spLocks noGrp="1"/>
          </p:cNvSpPr>
          <p:nvPr>
            <p:ph type="ftr" sz="quarter" idx="12"/>
          </p:nvPr>
        </p:nvSpPr>
        <p:spPr/>
        <p:txBody>
          <a:bodyPr rtlCol="0"/>
          <a:lstStyle/>
          <a:p>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F7342142-3729-412C-B255-C15DDAAE19EC}" type="datetimeFigureOut">
              <a:rPr lang="en-US" smtClean="0"/>
              <a:pPr/>
              <a:t>10/20/2022</a:t>
            </a:fld>
            <a:endParaRPr lang="en-GB"/>
          </a:p>
        </p:txBody>
      </p:sp>
      <p:sp>
        <p:nvSpPr>
          <p:cNvPr id="4" name="Footer Placeholder 3"/>
          <p:cNvSpPr>
            <a:spLocks noGrp="1"/>
          </p:cNvSpPr>
          <p:nvPr>
            <p:ph type="ftr" sz="quarter" idx="11"/>
          </p:nvPr>
        </p:nvSpPr>
        <p:spPr>
          <a:xfrm>
            <a:off x="5257800" y="612648"/>
            <a:ext cx="1325880" cy="457200"/>
          </a:xfrm>
        </p:spPr>
        <p:txBody>
          <a:bodyPr/>
          <a:lstStyle/>
          <a:p>
            <a:endParaRPr lang="en-GB"/>
          </a:p>
        </p:txBody>
      </p:sp>
      <p:sp>
        <p:nvSpPr>
          <p:cNvPr id="5" name="Slide Number Placeholder 4"/>
          <p:cNvSpPr>
            <a:spLocks noGrp="1"/>
          </p:cNvSpPr>
          <p:nvPr>
            <p:ph type="sldNum" sz="quarter" idx="12"/>
          </p:nvPr>
        </p:nvSpPr>
        <p:spPr>
          <a:xfrm>
            <a:off x="8174736" y="2272"/>
            <a:ext cx="762000" cy="365760"/>
          </a:xfrm>
        </p:spPr>
        <p:txBody>
          <a:bodyPr/>
          <a:lstStyle/>
          <a:p>
            <a:fld id="{EC7480B2-3198-4FE7-B1BC-F9E993B7981E}"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342142-3729-412C-B255-C15DDAAE19EC}" type="datetimeFigureOut">
              <a:rPr lang="en-US" smtClean="0"/>
              <a:pPr/>
              <a:t>10/20/2022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C7480B2-3198-4FE7-B1BC-F9E993B7981E}"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7342142-3729-412C-B255-C15DDAAE19EC}" type="datetimeFigureOut">
              <a:rPr lang="en-US" smtClean="0"/>
              <a:pPr/>
              <a:t>10/20/2022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C7480B2-3198-4FE7-B1BC-F9E993B7981E}"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F7342142-3729-412C-B255-C15DDAAE19EC}" type="datetimeFigureOut">
              <a:rPr lang="en-US" smtClean="0"/>
              <a:pPr/>
              <a:t>10/20/2022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C7480B2-3198-4FE7-B1BC-F9E993B7981E}"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7342142-3729-412C-B255-C15DDAAE19EC}" type="datetimeFigureOut">
              <a:rPr lang="en-US" smtClean="0"/>
              <a:pPr/>
              <a:t>10/20/2022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C7480B2-3198-4FE7-B1BC-F9E993B7981E}"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7342142-3729-412C-B255-C15DDAAE19EC}" type="datetimeFigureOut">
              <a:rPr lang="en-US" smtClean="0"/>
              <a:pPr/>
              <a:t>10/20/2022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C7480B2-3198-4FE7-B1BC-F9E993B7981E}"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F7342142-3729-412C-B255-C15DDAAE19EC}" type="datetimeFigureOut">
              <a:rPr lang="en-US" smtClean="0"/>
              <a:pPr/>
              <a:t>10/20/2022</a:t>
            </a:fld>
            <a:endParaRPr lang="en-GB"/>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GB"/>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EC7480B2-3198-4FE7-B1BC-F9E993B7981E}"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2357430"/>
            <a:ext cx="7772400" cy="1470025"/>
          </a:xfrm>
        </p:spPr>
        <p:txBody>
          <a:bodyPr>
            <a:normAutofit fontScale="90000"/>
          </a:bodyPr>
          <a:lstStyle/>
          <a:p>
            <a:r>
              <a:rPr lang="en-GB" dirty="0" smtClean="0"/>
              <a:t>A Neural Network And Data Preparation Technique For Solving A General Unit-cell’s Tight-binding Equation</a:t>
            </a:r>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Disclaimer:</a:t>
            </a:r>
            <a:endParaRPr lang="en-GB" dirty="0"/>
          </a:p>
        </p:txBody>
      </p:sp>
      <p:sp>
        <p:nvSpPr>
          <p:cNvPr id="3" name="Content Placeholder 2"/>
          <p:cNvSpPr>
            <a:spLocks noGrp="1"/>
          </p:cNvSpPr>
          <p:nvPr>
            <p:ph idx="1"/>
          </p:nvPr>
        </p:nvSpPr>
        <p:spPr/>
        <p:txBody>
          <a:bodyPr>
            <a:normAutofit/>
          </a:bodyPr>
          <a:lstStyle/>
          <a:p>
            <a:r>
              <a:rPr lang="en-GB" sz="2400" dirty="0" smtClean="0"/>
              <a:t>This initial network I designed before seeing the dataset we will be using. </a:t>
            </a:r>
            <a:r>
              <a:rPr lang="en-GB" sz="2400" dirty="0"/>
              <a:t>S</a:t>
            </a:r>
            <a:r>
              <a:rPr lang="en-GB" sz="2400" dirty="0" smtClean="0"/>
              <a:t>o it may need some further tweaks before it is relevant.</a:t>
            </a:r>
          </a:p>
          <a:p>
            <a:endParaRPr lang="en-GB" sz="2400" dirty="0"/>
          </a:p>
          <a:p>
            <a:r>
              <a:rPr lang="en-GB" sz="2400" dirty="0" smtClean="0"/>
              <a:t>The dataset looks different from what I had imagined, so it may not be relevant at all, but may still be food for thought in terms of network structures.</a:t>
            </a:r>
          </a:p>
          <a:p>
            <a:pPr>
              <a:buNone/>
            </a:pPr>
            <a:endParaRPr lang="en-GB"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Outline:</a:t>
            </a:r>
            <a:endParaRPr lang="en-GB" dirty="0"/>
          </a:p>
        </p:txBody>
      </p:sp>
      <p:sp>
        <p:nvSpPr>
          <p:cNvPr id="3" name="Content Placeholder 2"/>
          <p:cNvSpPr>
            <a:spLocks noGrp="1"/>
          </p:cNvSpPr>
          <p:nvPr>
            <p:ph idx="1"/>
          </p:nvPr>
        </p:nvSpPr>
        <p:spPr/>
        <p:txBody>
          <a:bodyPr>
            <a:normAutofit/>
          </a:bodyPr>
          <a:lstStyle/>
          <a:p>
            <a:r>
              <a:rPr lang="en-GB" sz="2400" dirty="0" smtClean="0"/>
              <a:t>This method is a procedure to prepare all the relevant information of a unit-cell such that a neural network can more easily predict global properties of the crystal.</a:t>
            </a:r>
          </a:p>
          <a:p>
            <a:endParaRPr lang="en-GB" sz="2400" dirty="0"/>
          </a:p>
          <a:p>
            <a:r>
              <a:rPr lang="en-GB" sz="2400" dirty="0" smtClean="0"/>
              <a:t>This could be generalised to models such as tight-binding or Hubbard, to predict </a:t>
            </a:r>
            <a:r>
              <a:rPr lang="en-GB" sz="2400" dirty="0" err="1" smtClean="0"/>
              <a:t>groundstates</a:t>
            </a:r>
            <a:endParaRPr lang="en-GB" sz="2400" dirty="0" smtClean="0"/>
          </a:p>
          <a:p>
            <a:endParaRPr lang="en-GB" sz="2400" dirty="0" smtClean="0"/>
          </a:p>
          <a:p>
            <a:r>
              <a:rPr lang="en-GB" sz="2400" dirty="0" smtClean="0"/>
              <a:t>It assumes knowledge of just the unit-cell is sufficient to predict global properties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Aims:</a:t>
            </a:r>
            <a:endParaRPr lang="en-GB" dirty="0"/>
          </a:p>
        </p:txBody>
      </p:sp>
      <p:sp>
        <p:nvSpPr>
          <p:cNvPr id="3" name="Content Placeholder 2"/>
          <p:cNvSpPr>
            <a:spLocks noGrp="1"/>
          </p:cNvSpPr>
          <p:nvPr>
            <p:ph idx="1"/>
          </p:nvPr>
        </p:nvSpPr>
        <p:spPr/>
        <p:txBody>
          <a:bodyPr>
            <a:normAutofit/>
          </a:bodyPr>
          <a:lstStyle/>
          <a:p>
            <a:r>
              <a:rPr lang="en-GB" sz="2400" dirty="0" smtClean="0"/>
              <a:t>Find a system to represent the unit cell in a way the neural network can more easily interpret. </a:t>
            </a:r>
          </a:p>
          <a:p>
            <a:pPr>
              <a:buNone/>
            </a:pPr>
            <a:endParaRPr lang="en-GB" sz="2400" dirty="0" smtClean="0"/>
          </a:p>
          <a:p>
            <a:r>
              <a:rPr lang="en-GB" sz="2400" dirty="0" smtClean="0"/>
              <a:t>The network should generalise to:</a:t>
            </a:r>
          </a:p>
          <a:p>
            <a:pPr lvl="1"/>
            <a:r>
              <a:rPr lang="en-GB" sz="2400" dirty="0" smtClean="0"/>
              <a:t>Any number of atoms in the unit cell</a:t>
            </a:r>
          </a:p>
          <a:p>
            <a:pPr lvl="1"/>
            <a:r>
              <a:rPr lang="en-GB" sz="2400" dirty="0" smtClean="0"/>
              <a:t>Any dimensional unit-cell 1D, 2D, 3D</a:t>
            </a:r>
          </a:p>
          <a:p>
            <a:pPr lvl="1"/>
            <a:r>
              <a:rPr lang="en-GB" sz="2400" dirty="0" smtClean="0"/>
              <a:t>Translation and rotations of the unit-cell</a:t>
            </a:r>
          </a:p>
          <a:p>
            <a:pPr lvl="1"/>
            <a:endParaRPr lang="en-GB" sz="2400" dirty="0" smtClean="0"/>
          </a:p>
          <a:p>
            <a:pPr lvl="1"/>
            <a:endParaRPr lang="en-GB"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Developing an embedding of unit-cell information</a:t>
            </a:r>
            <a:endParaRPr lang="en-GB" dirty="0"/>
          </a:p>
        </p:txBody>
      </p:sp>
      <p:sp>
        <p:nvSpPr>
          <p:cNvPr id="3" name="Content Placeholder 2"/>
          <p:cNvSpPr>
            <a:spLocks noGrp="1"/>
          </p:cNvSpPr>
          <p:nvPr>
            <p:ph idx="1"/>
          </p:nvPr>
        </p:nvSpPr>
        <p:spPr/>
        <p:txBody>
          <a:bodyPr>
            <a:normAutofit/>
          </a:bodyPr>
          <a:lstStyle/>
          <a:p>
            <a:r>
              <a:rPr lang="en-GB" sz="2400" dirty="0" smtClean="0"/>
              <a:t>The neural network should predict the same properties independent of the following transformations:</a:t>
            </a:r>
            <a:endParaRPr lang="en-GB"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The network must be invariant to translation of unit cell</a:t>
            </a:r>
            <a:endParaRPr lang="en-GB" dirty="0"/>
          </a:p>
        </p:txBody>
      </p:sp>
      <p:pic>
        <p:nvPicPr>
          <p:cNvPr id="1028" name="Picture 4"/>
          <p:cNvPicPr>
            <a:picLocks noChangeAspect="1" noChangeArrowheads="1"/>
          </p:cNvPicPr>
          <p:nvPr/>
        </p:nvPicPr>
        <p:blipFill>
          <a:blip r:embed="rId2"/>
          <a:srcRect/>
          <a:stretch>
            <a:fillRect/>
          </a:stretch>
        </p:blipFill>
        <p:spPr bwMode="auto">
          <a:xfrm>
            <a:off x="285720" y="2643182"/>
            <a:ext cx="8667768" cy="21666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The network must be invariant to rotation of unit cell</a:t>
            </a:r>
            <a:endParaRPr lang="en-GB" dirty="0"/>
          </a:p>
        </p:txBody>
      </p:sp>
      <p:sp>
        <p:nvSpPr>
          <p:cNvPr id="3" name="Content Placeholder 2"/>
          <p:cNvSpPr>
            <a:spLocks noGrp="1"/>
          </p:cNvSpPr>
          <p:nvPr>
            <p:ph idx="1"/>
          </p:nvPr>
        </p:nvSpPr>
        <p:spPr/>
        <p:txBody>
          <a:bodyPr/>
          <a:lstStyle/>
          <a:p>
            <a:endParaRPr lang="en-GB" dirty="0" smtClean="0"/>
          </a:p>
          <a:p>
            <a:endParaRPr lang="en-GB" dirty="0" smtClean="0"/>
          </a:p>
          <a:p>
            <a:endParaRPr lang="en-GB" dirty="0" smtClean="0"/>
          </a:p>
          <a:p>
            <a:endParaRPr lang="en-GB" dirty="0" smtClean="0"/>
          </a:p>
          <a:p>
            <a:endParaRPr lang="en-GB" dirty="0" smtClean="0"/>
          </a:p>
          <a:p>
            <a:endParaRPr lang="en-GB" dirty="0" smtClean="0"/>
          </a:p>
          <a:p>
            <a:r>
              <a:rPr lang="en-GB" dirty="0" smtClean="0"/>
              <a:t>(and all compositions of the two transformations - shown above)</a:t>
            </a:r>
            <a:endParaRPr lang="en-GB" dirty="0"/>
          </a:p>
        </p:txBody>
      </p:sp>
      <p:pic>
        <p:nvPicPr>
          <p:cNvPr id="5" name="Picture 5"/>
          <p:cNvPicPr>
            <a:picLocks noChangeAspect="1" noChangeArrowheads="1"/>
          </p:cNvPicPr>
          <p:nvPr/>
        </p:nvPicPr>
        <p:blipFill>
          <a:blip r:embed="rId2"/>
          <a:srcRect/>
          <a:stretch>
            <a:fillRect/>
          </a:stretch>
        </p:blipFill>
        <p:spPr bwMode="auto">
          <a:xfrm>
            <a:off x="285720" y="2643182"/>
            <a:ext cx="8645115" cy="214314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Inferring only the </a:t>
            </a:r>
            <a:r>
              <a:rPr lang="en-GB" dirty="0" err="1" smtClean="0"/>
              <a:t>pairwise</a:t>
            </a:r>
            <a:r>
              <a:rPr lang="en-GB" dirty="0" smtClean="0"/>
              <a:t> relative distances need to be represented</a:t>
            </a:r>
            <a:endParaRPr lang="en-GB" dirty="0"/>
          </a:p>
        </p:txBody>
      </p:sp>
      <p:sp>
        <p:nvSpPr>
          <p:cNvPr id="3" name="Content Placeholder 2"/>
          <p:cNvSpPr>
            <a:spLocks noGrp="1"/>
          </p:cNvSpPr>
          <p:nvPr>
            <p:ph idx="1"/>
          </p:nvPr>
        </p:nvSpPr>
        <p:spPr/>
        <p:txBody>
          <a:bodyPr>
            <a:noAutofit/>
          </a:bodyPr>
          <a:lstStyle/>
          <a:p>
            <a:r>
              <a:rPr lang="en-GB" sz="2000" dirty="0" smtClean="0"/>
              <a:t>Pros:</a:t>
            </a:r>
          </a:p>
          <a:p>
            <a:pPr lvl="1"/>
            <a:r>
              <a:rPr lang="en-GB" sz="2000" dirty="0" smtClean="0"/>
              <a:t>Multi-dimensional scaling is lossless representation and a potentially good encoding schema</a:t>
            </a:r>
          </a:p>
          <a:p>
            <a:pPr lvl="1"/>
            <a:r>
              <a:rPr lang="en-GB" sz="2000" dirty="0" smtClean="0"/>
              <a:t>Covers the invariance to unit-cell dimension</a:t>
            </a:r>
          </a:p>
          <a:p>
            <a:pPr lvl="1"/>
            <a:endParaRPr lang="en-GB" sz="2000" dirty="0" smtClean="0"/>
          </a:p>
          <a:p>
            <a:r>
              <a:rPr lang="en-GB" sz="2000" dirty="0" smtClean="0"/>
              <a:t>Cons:</a:t>
            </a:r>
          </a:p>
          <a:p>
            <a:pPr lvl="1"/>
            <a:r>
              <a:rPr lang="en-GB" sz="2000" dirty="0" smtClean="0"/>
              <a:t>Difficult for the network to infer the angular relation of neighbours</a:t>
            </a:r>
          </a:p>
          <a:p>
            <a:pPr lvl="1"/>
            <a:r>
              <a:rPr lang="en-GB" sz="2000" dirty="0" smtClean="0"/>
              <a:t>Poorly suited for nearest neighbour </a:t>
            </a:r>
            <a:r>
              <a:rPr lang="en-GB" sz="2000" dirty="0" err="1" smtClean="0"/>
              <a:t>cutoffs</a:t>
            </a:r>
            <a:r>
              <a:rPr lang="en-GB" sz="2000" dirty="0" smtClean="0"/>
              <a:t> when the unit cell is </a:t>
            </a:r>
            <a:r>
              <a:rPr lang="en-GB" sz="2000" dirty="0" err="1" smtClean="0"/>
              <a:t>tesselated</a:t>
            </a:r>
            <a:r>
              <a:rPr lang="en-GB" sz="2000" dirty="0" smtClean="0"/>
              <a:t>, as for it to be lossless all pairs need to be represented</a:t>
            </a:r>
          </a:p>
          <a:p>
            <a:pPr lvl="1"/>
            <a:r>
              <a:rPr lang="en-GB" sz="2000" dirty="0" smtClean="0"/>
              <a:t>Only works for finite tessellations of unit cell</a:t>
            </a:r>
          </a:p>
          <a:p>
            <a:pPr lvl="1"/>
            <a:r>
              <a:rPr lang="en-GB" sz="2000" dirty="0" smtClean="0"/>
              <a:t>Not invariant to number of atoms in unit cell</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Pairwise</a:t>
            </a:r>
            <a:r>
              <a:rPr lang="en-GB" dirty="0" smtClean="0"/>
              <a:t> Distances</a:t>
            </a:r>
            <a:endParaRPr lang="en-GB" dirty="0"/>
          </a:p>
        </p:txBody>
      </p:sp>
      <p:sp>
        <p:nvSpPr>
          <p:cNvPr id="3" name="Content Placeholder 2"/>
          <p:cNvSpPr>
            <a:spLocks noGrp="1"/>
          </p:cNvSpPr>
          <p:nvPr>
            <p:ph idx="1"/>
          </p:nvPr>
        </p:nvSpPr>
        <p:spPr/>
        <p:txBody>
          <a:bodyPr/>
          <a:lstStyle/>
          <a:p>
            <a:pPr>
              <a:buNone/>
            </a:pPr>
            <a:endParaRPr lang="en-GB" dirty="0"/>
          </a:p>
        </p:txBody>
      </p:sp>
      <p:pic>
        <p:nvPicPr>
          <p:cNvPr id="3074" name="Picture 2"/>
          <p:cNvPicPr>
            <a:picLocks noChangeAspect="1" noChangeArrowheads="1"/>
          </p:cNvPicPr>
          <p:nvPr/>
        </p:nvPicPr>
        <p:blipFill>
          <a:blip r:embed="rId2"/>
          <a:srcRect/>
          <a:stretch>
            <a:fillRect/>
          </a:stretch>
        </p:blipFill>
        <p:spPr bwMode="auto">
          <a:xfrm>
            <a:off x="2607455" y="2000240"/>
            <a:ext cx="3929090" cy="392909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785794"/>
            <a:ext cx="8229600" cy="1066800"/>
          </a:xfrm>
        </p:spPr>
        <p:txBody>
          <a:bodyPr>
            <a:normAutofit fontScale="90000"/>
          </a:bodyPr>
          <a:lstStyle/>
          <a:p>
            <a:r>
              <a:rPr lang="en-GB" dirty="0" smtClean="0"/>
              <a:t>Instead use </a:t>
            </a:r>
            <a:r>
              <a:rPr lang="en-GB" dirty="0" err="1" smtClean="0"/>
              <a:t>pairwise</a:t>
            </a:r>
            <a:r>
              <a:rPr lang="en-GB" dirty="0" smtClean="0"/>
              <a:t> </a:t>
            </a:r>
            <a:r>
              <a:rPr lang="en-GB" dirty="0" smtClean="0"/>
              <a:t>(inverse magnitude) dot-product </a:t>
            </a:r>
            <a:r>
              <a:rPr lang="en-GB" dirty="0" smtClean="0"/>
              <a:t>of atom displacements</a:t>
            </a:r>
            <a:endParaRPr lang="en-GB" dirty="0"/>
          </a:p>
        </p:txBody>
      </p:sp>
      <p:sp>
        <p:nvSpPr>
          <p:cNvPr id="3" name="Content Placeholder 2"/>
          <p:cNvSpPr>
            <a:spLocks noGrp="1"/>
          </p:cNvSpPr>
          <p:nvPr>
            <p:ph idx="1"/>
          </p:nvPr>
        </p:nvSpPr>
        <p:spPr/>
        <p:txBody>
          <a:bodyPr>
            <a:normAutofit/>
          </a:bodyPr>
          <a:lstStyle/>
          <a:p>
            <a:r>
              <a:rPr lang="en-GB" sz="2000" dirty="0" smtClean="0"/>
              <a:t>Pros:</a:t>
            </a:r>
          </a:p>
          <a:p>
            <a:pPr lvl="1"/>
            <a:r>
              <a:rPr lang="en-GB" sz="2000" dirty="0" smtClean="0"/>
              <a:t>Easy to truncate to nearest neighbours</a:t>
            </a:r>
          </a:p>
          <a:p>
            <a:pPr lvl="1"/>
            <a:r>
              <a:rPr lang="en-GB" sz="2000" dirty="0" smtClean="0"/>
              <a:t>Captures relative distances (diagonals) and angular relations (off diagonal)</a:t>
            </a:r>
          </a:p>
          <a:p>
            <a:pPr lvl="1"/>
            <a:r>
              <a:rPr lang="en-GB" sz="2000" dirty="0" smtClean="0"/>
              <a:t>Invariant to translation and rotation of unit-cell</a:t>
            </a:r>
          </a:p>
          <a:p>
            <a:pPr lvl="1"/>
            <a:r>
              <a:rPr lang="en-GB" sz="2000" dirty="0" smtClean="0"/>
              <a:t>Invariant to dimension of the unit-cell</a:t>
            </a:r>
          </a:p>
          <a:p>
            <a:pPr lvl="1"/>
            <a:r>
              <a:rPr lang="en-GB" sz="2000" dirty="0" smtClean="0"/>
              <a:t>Can capture non-local effect if truncation is applied past nearest neighbours</a:t>
            </a:r>
          </a:p>
          <a:p>
            <a:pPr lvl="1"/>
            <a:endParaRPr lang="en-GB" sz="2000" dirty="0" smtClean="0"/>
          </a:p>
          <a:p>
            <a:r>
              <a:rPr lang="en-GB" sz="2000" dirty="0" smtClean="0"/>
              <a:t>Cons:</a:t>
            </a:r>
          </a:p>
          <a:p>
            <a:pPr lvl="1"/>
            <a:r>
              <a:rPr lang="en-GB" sz="2000" dirty="0" smtClean="0"/>
              <a:t>Not immediately invariant to number of atoms in basis</a:t>
            </a:r>
          </a:p>
          <a:p>
            <a:pPr lvl="1"/>
            <a:r>
              <a:rPr lang="en-GB" sz="2000" dirty="0" smtClean="0"/>
              <a:t>Not invariant to permutation of order of </a:t>
            </a:r>
            <a:r>
              <a:rPr lang="en-GB" sz="2000" dirty="0" err="1" smtClean="0"/>
              <a:t>pairwise</a:t>
            </a:r>
            <a:r>
              <a:rPr lang="en-GB" sz="2000" dirty="0" smtClean="0"/>
              <a:t> dot-product</a:t>
            </a:r>
          </a:p>
          <a:p>
            <a:pPr lvl="1"/>
            <a:endParaRPr lang="en-GB" sz="2000" dirty="0" smtClean="0"/>
          </a:p>
          <a:p>
            <a:pPr lvl="1">
              <a:buNone/>
            </a:pPr>
            <a:endParaRPr lang="en-GB" sz="2000"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44" y="142852"/>
            <a:ext cx="8229600" cy="4525963"/>
          </a:xfrm>
        </p:spPr>
        <p:txBody>
          <a:bodyPr>
            <a:normAutofit/>
          </a:bodyPr>
          <a:lstStyle/>
          <a:p>
            <a:pPr>
              <a:buNone/>
            </a:pPr>
            <a:r>
              <a:rPr lang="en-GB" sz="2400" dirty="0" smtClean="0"/>
              <a:t>	</a:t>
            </a:r>
          </a:p>
          <a:p>
            <a:pPr>
              <a:buNone/>
            </a:pPr>
            <a:endParaRPr lang="en-GB" sz="2400" dirty="0" smtClean="0"/>
          </a:p>
          <a:p>
            <a:pPr>
              <a:buNone/>
            </a:pPr>
            <a:r>
              <a:rPr lang="en-GB" sz="2400" dirty="0" smtClean="0"/>
              <a:t>	For n neighbours checked, and m atoms in unit cell, the </a:t>
            </a:r>
            <a:r>
              <a:rPr lang="en-GB" sz="2400" dirty="0" err="1" smtClean="0"/>
              <a:t>pairwise</a:t>
            </a:r>
            <a:r>
              <a:rPr lang="en-GB" sz="2400" dirty="0" smtClean="0"/>
              <a:t> dot product method generates a [m, n, n] (symmetric in last two dimensions) tensor.</a:t>
            </a:r>
          </a:p>
          <a:p>
            <a:pPr>
              <a:buNone/>
            </a:pPr>
            <a:endParaRPr lang="en-GB" sz="2400" dirty="0" smtClean="0"/>
          </a:p>
          <a:p>
            <a:pPr>
              <a:buNone/>
            </a:pPr>
            <a:r>
              <a:rPr lang="en-GB" sz="2400" dirty="0" smtClean="0"/>
              <a:t>	Choose n large enough that effects become negligible. </a:t>
            </a:r>
          </a:p>
          <a:p>
            <a:pPr>
              <a:buNone/>
            </a:pPr>
            <a:endParaRPr lang="en-GB" sz="2400" dirty="0" smtClean="0"/>
          </a:p>
          <a:p>
            <a:pPr>
              <a:buNone/>
            </a:pPr>
            <a:r>
              <a:rPr lang="en-GB" sz="2400" dirty="0" smtClean="0"/>
              <a:t>	Somehow need to add the type of atoms too (should be fairly easy)</a:t>
            </a:r>
          </a:p>
          <a:p>
            <a:pPr>
              <a:buNone/>
            </a:pPr>
            <a:endParaRPr lang="en-GB" sz="2400" dirty="0"/>
          </a:p>
        </p:txBody>
      </p:sp>
      <p:pic>
        <p:nvPicPr>
          <p:cNvPr id="4098" name="Picture 2"/>
          <p:cNvPicPr>
            <a:picLocks noChangeAspect="1" noChangeArrowheads="1"/>
          </p:cNvPicPr>
          <p:nvPr/>
        </p:nvPicPr>
        <p:blipFill>
          <a:blip r:embed="rId2" cstate="print"/>
          <a:srcRect/>
          <a:stretch>
            <a:fillRect/>
          </a:stretch>
        </p:blipFill>
        <p:spPr bwMode="auto">
          <a:xfrm>
            <a:off x="3357554" y="3965028"/>
            <a:ext cx="5786446" cy="289297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This seems to be a sensible embedding</a:t>
            </a:r>
            <a:endParaRPr lang="en-GB" dirty="0"/>
          </a:p>
        </p:txBody>
      </p:sp>
      <p:sp>
        <p:nvSpPr>
          <p:cNvPr id="3" name="Content Placeholder 2"/>
          <p:cNvSpPr>
            <a:spLocks noGrp="1"/>
          </p:cNvSpPr>
          <p:nvPr>
            <p:ph idx="1"/>
          </p:nvPr>
        </p:nvSpPr>
        <p:spPr>
          <a:xfrm>
            <a:off x="428596" y="2071678"/>
            <a:ext cx="8229600" cy="4325112"/>
          </a:xfrm>
        </p:spPr>
        <p:txBody>
          <a:bodyPr>
            <a:noAutofit/>
          </a:bodyPr>
          <a:lstStyle/>
          <a:p>
            <a:r>
              <a:rPr lang="en-GB" sz="2400" dirty="0" smtClean="0"/>
              <a:t>Generalises to any unit cell</a:t>
            </a:r>
          </a:p>
          <a:p>
            <a:r>
              <a:rPr lang="en-GB" sz="2400" dirty="0" smtClean="0"/>
              <a:t>Invariant to translation and rotation of unit-cell</a:t>
            </a:r>
          </a:p>
          <a:p>
            <a:r>
              <a:rPr lang="en-GB" sz="2400" dirty="0" smtClean="0"/>
              <a:t>Invariant to dimension of unit-cell</a:t>
            </a:r>
          </a:p>
          <a:p>
            <a:pPr>
              <a:buNone/>
            </a:pPr>
            <a:endParaRPr lang="en-GB" sz="2400" dirty="0" smtClean="0"/>
          </a:p>
          <a:p>
            <a:pPr>
              <a:buNone/>
            </a:pPr>
            <a:r>
              <a:rPr lang="en-GB" sz="2400" dirty="0" smtClean="0"/>
              <a:t>	Would be effective at predicting hopping terms or ground states etc. In general global properties for an infinitely tessellated unit-cell should be predictable using this embedding. </a:t>
            </a:r>
          </a:p>
          <a:p>
            <a:pPr>
              <a:buNone/>
            </a:pPr>
            <a:endParaRPr lang="en-GB" sz="2400" dirty="0" smtClean="0"/>
          </a:p>
          <a:p>
            <a:pPr>
              <a:buNone/>
            </a:pPr>
            <a:r>
              <a:rPr lang="en-GB" sz="2400" dirty="0"/>
              <a:t>	</a:t>
            </a:r>
            <a:r>
              <a:rPr lang="en-GB" sz="2400" dirty="0" smtClean="0"/>
              <a:t>Ineffective at predicting properties of a finitely tessellated unit-cell (hence might not be relevant for this project)</a:t>
            </a:r>
          </a:p>
          <a:p>
            <a:endParaRPr lang="en-GB"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a:bodyPr>
          <a:lstStyle/>
          <a:p>
            <a:endParaRPr lang="en-GB" sz="2400" dirty="0" smtClean="0"/>
          </a:p>
          <a:p>
            <a:endParaRPr lang="en-GB" sz="2400" dirty="0" smtClean="0"/>
          </a:p>
          <a:p>
            <a:r>
              <a:rPr lang="en-GB" sz="2400" dirty="0" smtClean="0"/>
              <a:t>Making the network more generalised, invariant to these transformations, not only allows it to operate on all crystals, it also ensures needless data is not passed to the network</a:t>
            </a:r>
          </a:p>
          <a:p>
            <a:r>
              <a:rPr lang="en-GB" sz="2400" dirty="0" smtClean="0"/>
              <a:t>Otherwise the network may incorrectly </a:t>
            </a:r>
            <a:r>
              <a:rPr lang="en-GB" sz="2400" dirty="0" err="1" smtClean="0"/>
              <a:t>overfit</a:t>
            </a:r>
            <a:r>
              <a:rPr lang="en-GB" sz="2400" dirty="0" smtClean="0"/>
              <a:t> and become a function of these variables, compromising its extrapolation ability.</a:t>
            </a:r>
          </a:p>
          <a:p>
            <a:r>
              <a:rPr lang="en-GB" sz="2400" dirty="0" smtClean="0"/>
              <a:t>It is hoped that this embedding has minimal but sufficient degrees of freedom to well approximate the crystal properties.</a:t>
            </a:r>
            <a:endParaRPr lang="en-GB"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736"/>
            <a:ext cx="8229600" cy="1143000"/>
          </a:xfrm>
        </p:spPr>
        <p:txBody>
          <a:bodyPr>
            <a:normAutofit fontScale="90000"/>
          </a:bodyPr>
          <a:lstStyle/>
          <a:p>
            <a:r>
              <a:rPr lang="en-GB" dirty="0" smtClean="0"/>
              <a:t>Though the embedding is still not invariant to number of atoms in basis...</a:t>
            </a:r>
            <a:endParaRPr lang="en-GB"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GB" dirty="0" smtClean="0"/>
              <a:t>Requires a custom network architecture</a:t>
            </a:r>
            <a:endParaRPr lang="en-GB" dirty="0"/>
          </a:p>
        </p:txBody>
      </p:sp>
      <p:sp>
        <p:nvSpPr>
          <p:cNvPr id="3" name="Content Placeholder 2"/>
          <p:cNvSpPr>
            <a:spLocks noGrp="1"/>
          </p:cNvSpPr>
          <p:nvPr>
            <p:ph idx="1"/>
          </p:nvPr>
        </p:nvSpPr>
        <p:spPr/>
        <p:txBody>
          <a:bodyPr>
            <a:normAutofit/>
          </a:bodyPr>
          <a:lstStyle/>
          <a:p>
            <a:r>
              <a:rPr lang="en-GB" sz="2400" dirty="0" smtClean="0"/>
              <a:t>Can use an attention-like mechanism commonly found in a transformer network. This makes the network invariant to number of atoms in the basis (m). (Can also use this technique for variable n)</a:t>
            </a:r>
            <a:endParaRPr lang="en-GB" sz="2400" dirty="0"/>
          </a:p>
          <a:p>
            <a:endParaRPr lang="en-GB" sz="2400" dirty="0" smtClean="0"/>
          </a:p>
          <a:p>
            <a:pPr>
              <a:buNone/>
            </a:pPr>
            <a:r>
              <a:rPr lang="en-GB" sz="2400" dirty="0" smtClean="0"/>
              <a:t>	By making a custom neural network for our task, we are no longer restricted by expressing the </a:t>
            </a:r>
            <a:r>
              <a:rPr lang="en-GB" sz="2400" dirty="0" err="1" smtClean="0"/>
              <a:t>hamiltonian</a:t>
            </a:r>
            <a:r>
              <a:rPr lang="en-GB" sz="2400" dirty="0" smtClean="0"/>
              <a:t> or crystal structure in a way compatible to computer vision problems.</a:t>
            </a:r>
            <a:endParaRPr lang="en-GB" sz="2400" dirty="0"/>
          </a:p>
          <a:p>
            <a:endParaRPr lang="en-GB" sz="24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Why attention mechanism?</a:t>
            </a:r>
            <a:endParaRPr lang="en-GB" dirty="0"/>
          </a:p>
        </p:txBody>
      </p:sp>
      <p:sp>
        <p:nvSpPr>
          <p:cNvPr id="3" name="Content Placeholder 2"/>
          <p:cNvSpPr>
            <a:spLocks noGrp="1"/>
          </p:cNvSpPr>
          <p:nvPr>
            <p:ph idx="1"/>
          </p:nvPr>
        </p:nvSpPr>
        <p:spPr/>
        <p:txBody>
          <a:bodyPr>
            <a:normAutofit/>
          </a:bodyPr>
          <a:lstStyle/>
          <a:p>
            <a:pPr>
              <a:buNone/>
            </a:pPr>
            <a:endParaRPr lang="en-GB" sz="2400" dirty="0"/>
          </a:p>
          <a:p>
            <a:pPr>
              <a:buNone/>
            </a:pPr>
            <a:r>
              <a:rPr lang="en-GB" sz="2400" dirty="0" smtClean="0"/>
              <a:t>	Transformers work on NLP problems. These often consist of sentences with various numbers of words, so the network needs to be resilient to this. Attention mechanisms are designed for this issue.</a:t>
            </a:r>
          </a:p>
          <a:p>
            <a:pPr>
              <a:buNone/>
            </a:pPr>
            <a:endParaRPr lang="en-GB" sz="2400" dirty="0"/>
          </a:p>
          <a:p>
            <a:pPr>
              <a:buNone/>
            </a:pPr>
            <a:r>
              <a:rPr lang="en-GB" sz="2400" dirty="0" smtClean="0"/>
              <a:t>	Since the varying number of atoms in the unit-cell is analogous to the number of words in a sentence, then this means we can repurpose this mechanism.</a:t>
            </a:r>
          </a:p>
          <a:p>
            <a:pPr>
              <a:buNone/>
            </a:pPr>
            <a:endParaRPr lang="en-GB" sz="2400" dirty="0" smtClean="0"/>
          </a:p>
          <a:p>
            <a:pPr>
              <a:buNone/>
            </a:pPr>
            <a:endParaRPr lang="en-GB" sz="2400" dirty="0" smtClean="0"/>
          </a:p>
          <a:p>
            <a:pPr>
              <a:buNone/>
            </a:pPr>
            <a:endParaRPr lang="en-GB"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One remaining issue:</a:t>
            </a:r>
            <a:endParaRPr lang="en-GB" dirty="0"/>
          </a:p>
        </p:txBody>
      </p:sp>
      <p:sp>
        <p:nvSpPr>
          <p:cNvPr id="3" name="Content Placeholder 2"/>
          <p:cNvSpPr>
            <a:spLocks noGrp="1"/>
          </p:cNvSpPr>
          <p:nvPr>
            <p:ph idx="1"/>
          </p:nvPr>
        </p:nvSpPr>
        <p:spPr/>
        <p:txBody>
          <a:bodyPr>
            <a:normAutofit fontScale="85000" lnSpcReduction="10000"/>
          </a:bodyPr>
          <a:lstStyle/>
          <a:p>
            <a:r>
              <a:rPr lang="en-GB" sz="2400" dirty="0" smtClean="0"/>
              <a:t>The network should be invariant to permuting the ordering of which </a:t>
            </a:r>
            <a:r>
              <a:rPr lang="en-GB" sz="2400" dirty="0" err="1" smtClean="0"/>
              <a:t>pairwise</a:t>
            </a:r>
            <a:r>
              <a:rPr lang="en-GB" sz="2400" dirty="0" smtClean="0"/>
              <a:t> dot-products are calculated.</a:t>
            </a:r>
            <a:r>
              <a:rPr lang="en-GB" sz="2400" dirty="0"/>
              <a:t> </a:t>
            </a:r>
            <a:r>
              <a:rPr lang="en-GB" sz="2400" dirty="0" smtClean="0"/>
              <a:t>There are </a:t>
            </a:r>
            <a:r>
              <a:rPr lang="en-GB" sz="2400" dirty="0" smtClean="0"/>
              <a:t>at least three </a:t>
            </a:r>
            <a:r>
              <a:rPr lang="en-GB" sz="2400" dirty="0" smtClean="0"/>
              <a:t>fixes:</a:t>
            </a:r>
          </a:p>
          <a:p>
            <a:pPr lvl="1"/>
            <a:r>
              <a:rPr lang="en-GB" sz="2400" dirty="0" smtClean="0"/>
              <a:t>Make rules for consistently ordering the neighbours (though these would be arbitrary when considering neighbours at the same distance)</a:t>
            </a:r>
          </a:p>
          <a:p>
            <a:pPr lvl="1"/>
            <a:r>
              <a:rPr lang="en-GB" sz="2400" dirty="0" smtClean="0"/>
              <a:t>Including all the permutations in the dataset to encourage the network to learn the desired invariance</a:t>
            </a:r>
          </a:p>
          <a:p>
            <a:pPr lvl="1"/>
            <a:r>
              <a:rPr lang="en-GB" sz="2400" dirty="0" smtClean="0"/>
              <a:t>Can make a </a:t>
            </a:r>
            <a:r>
              <a:rPr lang="en-GB" sz="2400" dirty="0" err="1" smtClean="0"/>
              <a:t>kernal</a:t>
            </a:r>
            <a:r>
              <a:rPr lang="en-GB" sz="2400" dirty="0" smtClean="0"/>
              <a:t> which treats diagonal and off-diagonal elements separately and sum over in such a way that invariance is ensured (would need many </a:t>
            </a:r>
            <a:r>
              <a:rPr lang="en-GB" sz="2400" dirty="0" err="1" smtClean="0"/>
              <a:t>kernals</a:t>
            </a:r>
            <a:r>
              <a:rPr lang="en-GB" sz="2400" dirty="0" smtClean="0"/>
              <a:t> to not lose information)</a:t>
            </a:r>
          </a:p>
          <a:p>
            <a:pPr lvl="1"/>
            <a:endParaRPr lang="en-GB" sz="2400" dirty="0" smtClean="0"/>
          </a:p>
          <a:p>
            <a:endParaRPr lang="en-GB" sz="2400" dirty="0" smtClean="0"/>
          </a:p>
          <a:p>
            <a:r>
              <a:rPr lang="en-GB" sz="2400" dirty="0" smtClean="0"/>
              <a:t>First two are not ideal solutions.</a:t>
            </a:r>
            <a:endParaRPr lang="en-GB"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dirty="0" smtClean="0"/>
              <a:t>The network:</a:t>
            </a:r>
            <a:endParaRPr lang="en-GB" dirty="0"/>
          </a:p>
        </p:txBody>
      </p:sp>
      <p:pic>
        <p:nvPicPr>
          <p:cNvPr id="6146" name="Picture 2"/>
          <p:cNvPicPr>
            <a:picLocks noGrp="1" noChangeAspect="1" noChangeArrowheads="1"/>
          </p:cNvPicPr>
          <p:nvPr>
            <p:ph idx="4294967295"/>
          </p:nvPr>
        </p:nvPicPr>
        <p:blipFill>
          <a:blip r:embed="rId2">
            <a:clrChange>
              <a:clrFrom>
                <a:srgbClr val="FFFFFF"/>
              </a:clrFrom>
              <a:clrTo>
                <a:srgbClr val="FFFFFF">
                  <a:alpha val="0"/>
                </a:srgbClr>
              </a:clrTo>
            </a:clrChange>
          </a:blip>
          <a:srcRect/>
          <a:stretch>
            <a:fillRect/>
          </a:stretch>
        </p:blipFill>
        <p:spPr bwMode="auto">
          <a:xfrm>
            <a:off x="0" y="2105025"/>
            <a:ext cx="4786313" cy="4752975"/>
          </a:xfrm>
          <a:prstGeom prst="rect">
            <a:avLst/>
          </a:prstGeom>
          <a:noFill/>
          <a:ln w="9525">
            <a:noFill/>
            <a:miter lim="800000"/>
            <a:headEnd/>
            <a:tailEnd/>
          </a:ln>
          <a:effectLst/>
        </p:spPr>
      </p:pic>
      <p:pic>
        <p:nvPicPr>
          <p:cNvPr id="5" name="Picture 2" descr="C:\Users\George\Downloads\Diagramatic System.png"/>
          <p:cNvPicPr>
            <a:picLocks noChangeAspect="1" noChangeArrowheads="1"/>
          </p:cNvPicPr>
          <p:nvPr/>
        </p:nvPicPr>
        <p:blipFill>
          <a:blip r:embed="rId3"/>
          <a:srcRect/>
          <a:stretch>
            <a:fillRect/>
          </a:stretch>
        </p:blipFill>
        <p:spPr bwMode="auto">
          <a:xfrm>
            <a:off x="5363149" y="857232"/>
            <a:ext cx="3924276" cy="3929090"/>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Overview</a:t>
            </a:r>
            <a:endParaRPr lang="en-GB" dirty="0"/>
          </a:p>
        </p:txBody>
      </p:sp>
      <p:sp>
        <p:nvSpPr>
          <p:cNvPr id="3" name="Content Placeholder 2"/>
          <p:cNvSpPr>
            <a:spLocks noGrp="1"/>
          </p:cNvSpPr>
          <p:nvPr>
            <p:ph idx="1"/>
          </p:nvPr>
        </p:nvSpPr>
        <p:spPr/>
        <p:txBody>
          <a:bodyPr>
            <a:normAutofit/>
          </a:bodyPr>
          <a:lstStyle/>
          <a:p>
            <a:r>
              <a:rPr lang="en-GB" sz="2400" dirty="0" smtClean="0"/>
              <a:t>This network is generalised to </a:t>
            </a:r>
            <a:r>
              <a:rPr lang="en-GB" sz="2400" i="1" dirty="0" smtClean="0"/>
              <a:t>any</a:t>
            </a:r>
            <a:r>
              <a:rPr lang="en-GB" sz="2400" dirty="0" smtClean="0"/>
              <a:t> unit-cell! It can be trained on all experimentally tested unit-cells for a particular global property.</a:t>
            </a:r>
          </a:p>
          <a:p>
            <a:endParaRPr lang="en-GB" sz="2400" dirty="0" smtClean="0"/>
          </a:p>
          <a:p>
            <a:r>
              <a:rPr lang="en-GB" sz="2400" dirty="0" smtClean="0"/>
              <a:t>Using this information it should be able to produce predictions of properties of untested unit-cells hopefully accelerating development.</a:t>
            </a:r>
          </a:p>
          <a:p>
            <a:endParaRPr lang="en-GB" sz="2400" dirty="0" smtClean="0"/>
          </a:p>
          <a:p>
            <a:r>
              <a:rPr lang="en-GB" sz="2400" dirty="0" smtClean="0"/>
              <a:t>Dataset could be further expanded via </a:t>
            </a:r>
            <a:r>
              <a:rPr lang="en-GB" sz="2400" dirty="0" err="1" smtClean="0"/>
              <a:t>p</a:t>
            </a:r>
            <a:r>
              <a:rPr lang="en-GB" sz="2400" baseline="30000" dirty="0" err="1" smtClean="0"/>
              <a:t>th</a:t>
            </a:r>
            <a:r>
              <a:rPr lang="en-GB" sz="2400" dirty="0" smtClean="0"/>
              <a:t> order perturbation theory.</a:t>
            </a:r>
          </a:p>
          <a:p>
            <a:endParaRPr lang="en-GB" sz="2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Even more exciting...</a:t>
            </a:r>
            <a:endParaRPr lang="en-GB" dirty="0"/>
          </a:p>
        </p:txBody>
      </p:sp>
      <p:sp>
        <p:nvSpPr>
          <p:cNvPr id="3" name="Content Placeholder 2"/>
          <p:cNvSpPr>
            <a:spLocks noGrp="1"/>
          </p:cNvSpPr>
          <p:nvPr>
            <p:ph idx="1"/>
          </p:nvPr>
        </p:nvSpPr>
        <p:spPr/>
        <p:txBody>
          <a:bodyPr>
            <a:normAutofit/>
          </a:bodyPr>
          <a:lstStyle/>
          <a:p>
            <a:r>
              <a:rPr lang="en-GB" sz="2400" dirty="0" smtClean="0"/>
              <a:t>Potential to back propagate to inputs (like deep-dream), this is theoretically possible (and more likely to work if the output ‘data manifold’ has equal intrinsic dimension to the input data manifold).</a:t>
            </a:r>
          </a:p>
          <a:p>
            <a:endParaRPr lang="en-GB" sz="2400" dirty="0" smtClean="0"/>
          </a:p>
          <a:p>
            <a:r>
              <a:rPr lang="en-GB" sz="2400" dirty="0" smtClean="0"/>
              <a:t>If trained sufficiently, this would allow you to specify desirable crystal properties and the network would ‘run in reverse’ to yield a unit-cell which would possess these desired properties.</a:t>
            </a:r>
            <a:endParaRPr lang="en-GB" sz="2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Caveats</a:t>
            </a:r>
            <a:endParaRPr lang="en-GB" dirty="0"/>
          </a:p>
        </p:txBody>
      </p:sp>
      <p:sp>
        <p:nvSpPr>
          <p:cNvPr id="3" name="Content Placeholder 2"/>
          <p:cNvSpPr>
            <a:spLocks noGrp="1"/>
          </p:cNvSpPr>
          <p:nvPr>
            <p:ph idx="1"/>
          </p:nvPr>
        </p:nvSpPr>
        <p:spPr/>
        <p:txBody>
          <a:bodyPr>
            <a:normAutofit fontScale="92500"/>
          </a:bodyPr>
          <a:lstStyle/>
          <a:p>
            <a:r>
              <a:rPr lang="en-GB" sz="2400" dirty="0" smtClean="0"/>
              <a:t>Though as mentioned, this was all developed prior to knowing the available dataset structure.</a:t>
            </a:r>
          </a:p>
          <a:p>
            <a:pPr lvl="1"/>
            <a:r>
              <a:rPr lang="en-GB" sz="2000" dirty="0" smtClean="0"/>
              <a:t>So for the case of finite number of cells, the embedding technique is not well suited (the network should be though).</a:t>
            </a:r>
          </a:p>
          <a:p>
            <a:pPr lvl="1"/>
            <a:r>
              <a:rPr lang="en-GB" sz="2000" dirty="0" smtClean="0"/>
              <a:t>Also since it treats the unit-cell as infinitely tessellated, it may struggle with edge effects. But if there are general edge-effects irrespective of crystal size then it should still work for these.</a:t>
            </a:r>
          </a:p>
          <a:p>
            <a:pPr lvl="1"/>
            <a:r>
              <a:rPr lang="en-GB" sz="2000" dirty="0" smtClean="0"/>
              <a:t>It assumes the unit-cell provides sufficient information to predict these global properties.</a:t>
            </a:r>
          </a:p>
          <a:p>
            <a:pPr lvl="1"/>
            <a:endParaRPr lang="en-GB" sz="2000" dirty="0" smtClean="0"/>
          </a:p>
          <a:p>
            <a:r>
              <a:rPr lang="en-GB" sz="2400" dirty="0" smtClean="0"/>
              <a:t>Thus, it might not be the most applicable for the </a:t>
            </a:r>
            <a:r>
              <a:rPr lang="en-GB" sz="2400" dirty="0"/>
              <a:t>H</a:t>
            </a:r>
            <a:r>
              <a:rPr lang="en-GB" sz="2400" dirty="0" smtClean="0"/>
              <a:t>ubbard model and </a:t>
            </a:r>
            <a:r>
              <a:rPr lang="en-GB" sz="2400" dirty="0" err="1" smtClean="0"/>
              <a:t>BiTeI</a:t>
            </a:r>
            <a:r>
              <a:rPr lang="en-GB" sz="2400" dirty="0" smtClean="0"/>
              <a:t> as these are specific cases as opposed to general cases. As well, edge effects are essential.</a:t>
            </a:r>
          </a:p>
          <a:p>
            <a:endParaRPr lang="en-GB" sz="2400" dirty="0" smtClean="0"/>
          </a:p>
          <a:p>
            <a:endParaRPr lang="en-GB" sz="24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Specifically for </a:t>
            </a:r>
            <a:r>
              <a:rPr lang="en-GB" dirty="0" err="1" smtClean="0"/>
              <a:t>BiTeI</a:t>
            </a:r>
            <a:r>
              <a:rPr lang="en-GB" dirty="0" smtClean="0"/>
              <a:t>:</a:t>
            </a:r>
            <a:endParaRPr lang="en-GB" dirty="0"/>
          </a:p>
        </p:txBody>
      </p:sp>
      <p:sp>
        <p:nvSpPr>
          <p:cNvPr id="3" name="Content Placeholder 2"/>
          <p:cNvSpPr>
            <a:spLocks noGrp="1"/>
          </p:cNvSpPr>
          <p:nvPr>
            <p:ph idx="1"/>
          </p:nvPr>
        </p:nvSpPr>
        <p:spPr/>
        <p:txBody>
          <a:bodyPr>
            <a:normAutofit/>
          </a:bodyPr>
          <a:lstStyle/>
          <a:p>
            <a:r>
              <a:rPr lang="en-GB" sz="2400" dirty="0" smtClean="0"/>
              <a:t>The cell offsets [</a:t>
            </a:r>
            <a:r>
              <a:rPr lang="en-GB" sz="2400" dirty="0" err="1" smtClean="0"/>
              <a:t>i</a:t>
            </a:r>
            <a:r>
              <a:rPr lang="en-GB" sz="2400" dirty="0" smtClean="0"/>
              <a:t>, j, k] form a 3D tensor e.g.[11, 9, 13], each element is itself a matrix [</a:t>
            </a:r>
            <a:r>
              <a:rPr lang="en-GB" sz="2400" dirty="0" err="1" smtClean="0"/>
              <a:t>pi,pj</a:t>
            </a:r>
            <a:r>
              <a:rPr lang="en-GB" sz="2400" dirty="0" smtClean="0"/>
              <a:t>] so [18, 18] and each term of these is a complex hopping, which itself is two real numbers. Resulting in 7D tensor [</a:t>
            </a:r>
            <a:r>
              <a:rPr lang="en-GB" sz="2400" dirty="0" err="1" smtClean="0"/>
              <a:t>i</a:t>
            </a:r>
            <a:r>
              <a:rPr lang="en-GB" sz="2400" dirty="0" smtClean="0"/>
              <a:t>, j, k, pi, </a:t>
            </a:r>
            <a:r>
              <a:rPr lang="en-GB" sz="2400" dirty="0" err="1" smtClean="0"/>
              <a:t>pj</a:t>
            </a:r>
            <a:r>
              <a:rPr lang="en-GB" sz="2400" dirty="0" smtClean="0"/>
              <a:t>, H_R, H_I]. A 4D </a:t>
            </a:r>
            <a:r>
              <a:rPr lang="en-GB" sz="2400" dirty="0" err="1" smtClean="0"/>
              <a:t>kernal</a:t>
            </a:r>
            <a:r>
              <a:rPr lang="en-GB" sz="2400" dirty="0" smtClean="0"/>
              <a:t> can be applied to last 4 dimensions and then convolved over first 3 dimensions, to form a 4D tensor, which can further convolved and flattened into a fully connected network.</a:t>
            </a:r>
            <a:endParaRPr lang="en-GB"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Any questions?</a:t>
            </a:r>
            <a:endParaRPr lang="en-GB" dirty="0"/>
          </a:p>
        </p:txBody>
      </p:sp>
      <p:sp>
        <p:nvSpPr>
          <p:cNvPr id="3" name="Content Placeholder 2"/>
          <p:cNvSpPr>
            <a:spLocks noGrp="1"/>
          </p:cNvSpPr>
          <p:nvPr>
            <p:ph idx="1"/>
          </p:nvPr>
        </p:nvSpPr>
        <p:spPr/>
        <p:txBody>
          <a:bodyPr/>
          <a:lstStyle/>
          <a:p>
            <a:endParaRPr lang="en-GB"/>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353</TotalTime>
  <Words>1024</Words>
  <Application>Microsoft Office PowerPoint</Application>
  <PresentationFormat>On-screen Show (4:3)</PresentationFormat>
  <Paragraphs>111</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Urban</vt:lpstr>
      <vt:lpstr>A Neural Network And Data Preparation Technique For Solving A General Unit-cell’s Tight-binding Equation</vt:lpstr>
      <vt:lpstr>Disclaimer:</vt:lpstr>
      <vt:lpstr>Outline:</vt:lpstr>
      <vt:lpstr>Aims:</vt:lpstr>
      <vt:lpstr>Developing an embedding of unit-cell information</vt:lpstr>
      <vt:lpstr>The network must be invariant to translation of unit cell</vt:lpstr>
      <vt:lpstr>The network must be invariant to rotation of unit cell</vt:lpstr>
      <vt:lpstr>Inferring only the pairwise relative distances need to be represented</vt:lpstr>
      <vt:lpstr>Pairwise Distances</vt:lpstr>
      <vt:lpstr>Instead use pairwise (inverse magnitude) dot-product of atom displacements</vt:lpstr>
      <vt:lpstr>Slide 11</vt:lpstr>
      <vt:lpstr>This seems to be a sensible embedding</vt:lpstr>
      <vt:lpstr>Slide 13</vt:lpstr>
      <vt:lpstr>Though the embedding is still not invariant to number of atoms in basis...</vt:lpstr>
      <vt:lpstr>Requires a custom network architecture</vt:lpstr>
      <vt:lpstr>Why attention mechanism?</vt:lpstr>
      <vt:lpstr>One remaining issue:</vt:lpstr>
      <vt:lpstr>The network:</vt:lpstr>
      <vt:lpstr>Overview</vt:lpstr>
      <vt:lpstr>Even more exciting...</vt:lpstr>
      <vt:lpstr>Caveats</vt:lpstr>
      <vt:lpstr>Specifically for BiTeI:</vt:lpstr>
      <vt:lpstr>Any questions?</vt:lpstr>
    </vt:vector>
  </TitlesOfParts>
  <Company>University of Manchester [work-at-home copy]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Neural Network And Data Preparation Technique For Solving A General Unit-cell’s Tight-binding Equation</dc:title>
  <dc:creator>George</dc:creator>
  <cp:lastModifiedBy>George</cp:lastModifiedBy>
  <cp:revision>16</cp:revision>
  <dcterms:created xsi:type="dcterms:W3CDTF">2022-10-18T12:51:26Z</dcterms:created>
  <dcterms:modified xsi:type="dcterms:W3CDTF">2022-10-20T09:52:42Z</dcterms:modified>
</cp:coreProperties>
</file>